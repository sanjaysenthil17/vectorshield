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5373BC-756C-9947-D7F4-7EF02F453481}" v="8" dt="2026-07-22T11:04:40.345"/>
    <p1510:client id="{A2F7B59D-34B7-EC53-B3A4-86C845347CED}" v="1" dt="2026-07-22T10:58:13.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sz="2200" b="1"/>
            </a:pPr>
            <a:r>
              <a:t>Vector-Shield: Real-Time Topographic Anomaly Detection and Stateful Semantic Guardrails in High-Dimensional Embedding Spaces for Secure Agentic RAG</a:t>
            </a:r>
          </a:p>
        </p:txBody>
      </p:sp>
      <p:sp>
        <p:nvSpPr>
          <p:cNvPr id="3" name="Subtitle 2"/>
          <p:cNvSpPr>
            <a:spLocks noGrp="1"/>
          </p:cNvSpPr>
          <p:nvPr>
            <p:ph type="subTitle" idx="1"/>
          </p:nvPr>
        </p:nvSpPr>
        <p:spPr>
          <a:xfrm>
            <a:off x="457200" y="3886200"/>
            <a:ext cx="7936992" cy="2240280"/>
          </a:xfrm>
        </p:spPr>
        <p:txBody>
          <a:bodyPr>
            <a:normAutofit fontScale="47500" lnSpcReduction="20000"/>
          </a:bodyPr>
          <a:lstStyle/>
          <a:p>
            <a:pPr>
              <a:defRPr sz="1300"/>
            </a:pPr>
            <a:r>
              <a:t>Student Details:</a:t>
            </a:r>
          </a:p>
          <a:p>
            <a:pPr>
              <a:defRPr sz="1300"/>
            </a:pPr>
            <a:r>
              <a:t>1. Vignesh V S (cb.ai.u4aid23057) — Team Lead &amp; Lead Architect</a:t>
            </a:r>
          </a:p>
          <a:p>
            <a:pPr>
              <a:defRPr sz="1300"/>
            </a:pPr>
            <a:r>
              <a:t>2. Karthick Ruban T (cb.ai.u4aid23017) — Threat Modeling Engineer</a:t>
            </a:r>
          </a:p>
          <a:p>
            <a:pPr>
              <a:defRPr sz="1300"/>
            </a:pPr>
            <a:r>
              <a:t>3. Sanjay Senthil (cb.ai.u4aid23042) — Middleware &amp; DL Engineer</a:t>
            </a:r>
          </a:p>
          <a:p>
            <a:pPr>
              <a:defRPr sz="1300"/>
            </a:pPr>
            <a:r>
              <a:t>4. Hari Prakash V (cb.ai.u4aid23047) — Ingestion &amp; Evaluation Engineer</a:t>
            </a:r>
          </a:p>
          <a:p>
            <a:pPr>
              <a:defRPr sz="1300"/>
            </a:pPr>
          </a:p>
          <a:p>
            <a:pPr>
              <a:defRPr sz="1300"/>
            </a:pPr>
            <a:r>
              <a:t>Team Number: AIDS Team 14 | Supervisor: Dr. Lekshmi CR</a:t>
            </a:r>
          </a:p>
        </p:txBody>
      </p:sp>
      <p:pic>
        <p:nvPicPr>
          <p:cNvPr id="4" name="Picture 3" descr="1ebf939e-38c1-4044-bb92-b6712d24adcc.png"/>
          <p:cNvPicPr>
            <a:picLocks noChangeAspect="1"/>
          </p:cNvPicPr>
          <p:nvPr/>
        </p:nvPicPr>
        <p:blipFill>
          <a:blip r:embed="rId2"/>
          <a:stretch>
            <a:fillRect/>
          </a:stretch>
        </p:blipFill>
        <p:spPr>
          <a:xfrm>
            <a:off x="1905611" y="91440"/>
            <a:ext cx="5332778" cy="932688"/>
          </a:xfrm>
          <a:prstGeom prst="rect">
            <a:avLst/>
          </a:prstGeom>
        </p:spPr>
      </p:pic>
      <p:sp>
        <p:nvSpPr>
          <p:cNvPr id="5" name="TextBox 4"/>
          <p:cNvSpPr txBox="1"/>
          <p:nvPr/>
        </p:nvSpPr>
        <p:spPr>
          <a:xfrm>
            <a:off x="-365760" y="1377760"/>
            <a:ext cx="10241280" cy="731520"/>
          </a:xfrm>
          <a:prstGeom prst="rect">
            <a:avLst/>
          </a:prstGeom>
          <a:noFill/>
        </p:spPr>
        <p:txBody>
          <a:bodyPr wrap="square">
            <a:spAutoFit/>
          </a:bodyPr>
          <a:lstStyle/>
          <a:p>
            <a:pPr algn="ctr"/>
            <a:r>
              <a:rPr sz="3000" b="1" dirty="0"/>
              <a:t>FIRST REVIEW – B.TECH PROJECT</a:t>
            </a:r>
          </a:p>
        </p:txBody>
      </p:sp>
      <p:sp>
        <p:nvSpPr>
          <p:cNvPr id="7" name="TextBox 6"/>
          <p:cNvSpPr txBox="1"/>
          <p:nvPr/>
        </p:nvSpPr>
        <p:spPr>
          <a:xfrm>
            <a:off x="-365760" y="3112389"/>
            <a:ext cx="9875520" cy="1188720"/>
          </a:xfrm>
          <a:prstGeom prst="rect">
            <a:avLst/>
          </a:prstGeom>
          <a:noFill/>
        </p:spPr>
        <p:txBody>
          <a:bodyPr wrap="square">
            <a:spAutoFit/>
          </a:bodyPr>
          <a:lstStyle/>
          <a:p>
            <a:r>
              <a:t>Team No.: AIDS Team 14</a:t>
            </a:r>
          </a:p>
          <a:p>
            <a:r>
              <a:t>Vignesh V S (cb.ai.u4aid23057) | Karthick Ruban T (cb.ai.u4aid23017)</a:t>
            </a:r>
          </a:p>
          <a:p>
            <a:r>
              <a:t>Sanjay Senthil (cb.ai.u4aid23042) | Hari Prakash V (cb.ai.u4aid23047)</a:t>
            </a:r>
          </a:p>
        </p:txBody>
      </p:sp>
      <p:sp>
        <p:nvSpPr>
          <p:cNvPr id="8" name="TextBox 7"/>
          <p:cNvSpPr txBox="1"/>
          <p:nvPr/>
        </p:nvSpPr>
        <p:spPr>
          <a:xfrm>
            <a:off x="2423160" y="4869180"/>
            <a:ext cx="9875520" cy="411480"/>
          </a:xfrm>
          <a:prstGeom prst="rect">
            <a:avLst/>
          </a:prstGeom>
          <a:noFill/>
        </p:spPr>
        <p:txBody>
          <a:bodyPr wrap="square">
            <a:spAutoFit/>
          </a:bodyPr>
          <a:lstStyle/>
          <a:p>
            <a:r>
              <a:t>Supervisor: Dr. Lekshmi CR</a:t>
            </a:r>
          </a:p>
        </p:txBody>
      </p:sp>
      <p:sp>
        <p:nvSpPr>
          <p:cNvPr id="9" name="TextBox 8"/>
          <p:cNvSpPr txBox="1"/>
          <p:nvPr/>
        </p:nvSpPr>
        <p:spPr>
          <a:xfrm>
            <a:off x="502920" y="6446520"/>
            <a:ext cx="10972800" cy="201168"/>
          </a:xfrm>
          <a:prstGeom prst="rect">
            <a:avLst/>
          </a:prstGeom>
          <a:noFill/>
        </p:spPr>
        <p:txBody>
          <a:bodyPr wrap="square">
            <a:spAutoFit/>
          </a:bodyPr>
          <a:lstStyle/>
          <a:p>
            <a:pPr algn="l"/>
            <a:r>
              <a:rPr sz="900" b="0"/>
              <a:t>FIRST REVIEW • SAMPLE FORMAT • Slide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01 | Project Progress Since Zeroth Review</a:t>
            </a:r>
          </a:p>
        </p:txBody>
      </p:sp>
      <p:sp>
        <p:nvSpPr>
          <p:cNvPr id="3" name="TextBox 2"/>
          <p:cNvSpPr txBox="1"/>
          <p:nvPr/>
        </p:nvSpPr>
        <p:spPr>
          <a:xfrm>
            <a:off x="685800" y="1143000"/>
            <a:ext cx="8147304" cy="2816156"/>
          </a:xfrm>
          <a:prstGeom prst="rect">
            <a:avLst/>
          </a:prstGeom>
          <a:noFill/>
        </p:spPr>
        <p:txBody>
          <a:bodyPr wrap="square">
            <a:spAutoFit/>
          </a:bodyPr>
          <a:lstStyle/>
          <a:p>
            <a:pPr>
              <a:spcAft>
                <a:spcPts val="800"/>
              </a:spcAft>
              <a:defRPr sz="1300"/>
            </a:pPr>
            <a:r>
              <a:t>• 50% Project Milestone Achieved: Fully designed, implemented, and empirically validated the Stage 1 Symbolic LOF Interceptor before the first review window.</a:t>
            </a:r>
          </a:p>
          <a:p>
            <a:pPr>
              <a:spcAft>
                <a:spcPts val="800"/>
              </a:spcAft>
              <a:defRPr sz="1300"/>
            </a:pPr>
            <a:r>
              <a:t>• Operational ChromaDB Middleware: Implemented tensor interception hook between vector retrieval and context injection, running in &lt; 2ms latency.</a:t>
            </a:r>
          </a:p>
          <a:p>
            <a:pPr>
              <a:spcAft>
                <a:spcPts val="800"/>
              </a:spcAft>
              <a:defRPr sz="1300"/>
            </a:pPr>
            <a:r>
              <a:t>• Curated Real Security Benchmark: Ingested 28 enterprise knowledge documents (Finance, Banking, IT, HR) + genuine Hugging Face / Garak prompt injections.</a:t>
            </a:r>
          </a:p>
          <a:p>
            <a:pPr>
              <a:spcAft>
                <a:spcPts val="800"/>
              </a:spcAft>
              <a:defRPr sz="1300"/>
            </a:pPr>
            <a:r>
              <a:t>• Stateful Self-Healing Engine: Formulated LangGraph cyclic state machine to automatically drop contaminated vector IDs and re-query safe context.</a:t>
            </a:r>
          </a:p>
          <a:p>
            <a:pPr>
              <a:spcAft>
                <a:spcPts val="800"/>
              </a:spcAft>
              <a:defRPr sz="1300"/>
            </a:pPr>
            <a:r>
              <a:t>• Turnkey A100 GPU Package: Developed offline-ready PyTorch bfloat16 training script and Jupyter notebook for ModernBERT on the university A100 cluster.</a:t>
            </a:r>
          </a:p>
          <a:p>
            <a:pPr>
              <a:spcAft>
                <a:spcPts val="800"/>
              </a:spcAft>
              <a:defRPr sz="1300"/>
            </a:pPr>
            <a:r>
              <a:t>• Interactive 3D WebGL Cockpit: Built real-time Streamlit dashboard (app/dashboard.py) with 3D vector hyperspace and attack injection simulator.</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02 | Motivation &amp; Problem Statement</a:t>
            </a:r>
          </a:p>
        </p:txBody>
      </p:sp>
      <p:sp>
        <p:nvSpPr>
          <p:cNvPr id="3" name="TextBox 2"/>
          <p:cNvSpPr txBox="1"/>
          <p:nvPr/>
        </p:nvSpPr>
        <p:spPr>
          <a:xfrm>
            <a:off x="685800" y="1143000"/>
            <a:ext cx="7982712" cy="2487861"/>
          </a:xfrm>
          <a:prstGeom prst="rect">
            <a:avLst/>
          </a:prstGeom>
          <a:noFill/>
        </p:spPr>
        <p:txBody>
          <a:bodyPr wrap="square">
            <a:spAutoFit/>
          </a:bodyPr>
          <a:lstStyle/>
          <a:p>
            <a:pPr>
              <a:spcAft>
                <a:spcPts val="800"/>
              </a:spcAft>
              <a:defRPr sz="1300"/>
            </a:pPr>
            <a:r>
              <a:t>• The Problem: Autonomous Agentic RAG workflows rely on vector databases (ChromaDB, FAISS). Vector retrieval uses mathematical proximity (Cosine Similarity), which has zero semantic awareness of data safety, leaving agents vulnerable to Indirect Prompt Injections (IPI).</a:t>
            </a:r>
          </a:p>
          <a:p>
            <a:pPr>
              <a:spcAft>
                <a:spcPts val="800"/>
              </a:spcAft>
              <a:defRPr sz="1300"/>
            </a:pPr>
            <a:r>
              <a:t>• Threat Impact: Poisoned database entries force high-similarity matches, hijacking the LLM agent to execute unauthorized actions (e.g., fraudulent fund transfers of ₹1,50,000 or credential leaks).</a:t>
            </a:r>
          </a:p>
          <a:p>
            <a:pPr>
              <a:spcAft>
                <a:spcPts val="800"/>
              </a:spcAft>
              <a:defRPr sz="1300"/>
            </a:pPr>
            <a:r>
              <a:t>• Research Gap in Current Defenses: Post-retrieval LLM guardrails (e.g. Llama Guard) add 4000ms–8000ms latency overhead and double GPU inference costs.</a:t>
            </a:r>
          </a:p>
          <a:p>
            <a:pPr>
              <a:spcAft>
                <a:spcPts val="800"/>
              </a:spcAft>
              <a:defRPr sz="1300"/>
            </a:pPr>
            <a:r>
              <a:t>• Scope Boundaries: In-Scope: ChromaDB vector interception, LOF geometric scoring, ModernBERT semantic classification, LangGraph self-healing. Out-of-Scope: Hardware-level GPU side-channels and pre-embedding raw OCR validation.</a:t>
            </a:r>
          </a:p>
          <a:p>
            <a:pPr>
              <a:spcAft>
                <a:spcPts val="800"/>
              </a:spcAft>
              <a:defRPr sz="1300"/>
            </a:pPr>
            <a:r>
              <a:t>• Measurable Objectives:</a:t>
            </a:r>
          </a:p>
          <a:p>
            <a:pPr>
              <a:spcAft>
                <a:spcPts val="800"/>
              </a:spcAft>
              <a:defRPr sz="1300"/>
            </a:pPr>
            <a:r>
              <a:t>   1. Achieve vector space anomaly interception during retrieval in &lt; 2ms.</a:t>
            </a:r>
          </a:p>
          <a:p>
            <a:pPr>
              <a:spcAft>
                <a:spcPts val="800"/>
              </a:spcAft>
              <a:defRPr sz="1300"/>
            </a:pPr>
            <a:r>
              <a:t>   2. Fine-tune ModernBERT-base (149M params) sequence classifier to achieve &gt; 95% Precision/Recall on adversarial injections.</a:t>
            </a:r>
          </a:p>
          <a:p>
            <a:pPr>
              <a:spcAft>
                <a:spcPts val="800"/>
              </a:spcAft>
              <a:defRPr sz="1300"/>
            </a:pPr>
            <a:r>
              <a:t>   3. Maintain total system latency overhead to &lt; 20ms (a ~96% improvement over generative redactors).</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03 | Consolidated Literature Review &amp; Research Gap</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04 | Finalized System Architecture &amp; Methodology</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05 | Implementation Status – Prototype / Proof-of-Concept</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06 | Experimental Setup &amp; Test Cases</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07 | Results – Quantitative Performance</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08 | Results Analysis &amp; Interpretation</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09 | Prototype / Demonstration</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10 | Current Limitations &amp; Technical Challenges</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11 | Remaining Work &amp; Completion Plan</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12 | Project Contribution &amp; Current Achievement</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13 | Team Contribution &amp; Responsibility</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064240" cy="502920"/>
          </a:xfrm>
          <a:prstGeom prst="rect">
            <a:avLst/>
          </a:prstGeom>
          <a:noFill/>
        </p:spPr>
        <p:txBody>
          <a:bodyPr wrap="square">
            <a:spAutoFit/>
          </a:bodyPr>
          <a:lstStyle/>
          <a:p>
            <a:pPr>
              <a:defRPr sz="2000" b="1"/>
            </a:pPr>
            <a:r>
              <a:t>14 | References</a:t>
            </a:r>
          </a:p>
        </p:txBody>
      </p:sp>
      <p:sp>
        <p:nvSpPr>
          <p:cNvPr id="4" name="TextBox 3"/>
          <p:cNvSpPr txBox="1"/>
          <p:nvPr/>
        </p:nvSpPr>
        <p:spPr>
          <a:xfrm>
            <a:off x="502920" y="6446520"/>
            <a:ext cx="10972800" cy="201168"/>
          </a:xfrm>
          <a:prstGeom prst="rect">
            <a:avLst/>
          </a:prstGeom>
          <a:noFill/>
        </p:spPr>
        <p:txBody>
          <a:bodyPr wrap="square">
            <a:spAutoFit/>
          </a:bodyPr>
          <a:lstStyle/>
          <a:p>
            <a:r>
              <a:t>FIRST REVIEW • AIDS TEAM 14 • VECTOR-SHIELD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374</Words>
  <Application>Microsoft Office PowerPoint</Application>
  <PresentationFormat>On-screen Show (4:3)</PresentationFormat>
  <Paragraphs>52</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Project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 V</cp:lastModifiedBy>
  <cp:revision>10</cp:revision>
  <dcterms:created xsi:type="dcterms:W3CDTF">2013-01-27T09:14:16Z</dcterms:created>
  <dcterms:modified xsi:type="dcterms:W3CDTF">2026-09-17T06:10:46Z</dcterms:modified>
  <cp:category/>
</cp:coreProperties>
</file>